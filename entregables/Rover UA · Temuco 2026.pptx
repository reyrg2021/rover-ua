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guía es para el equipo: explica el auto completo, versión reactiva (la del resumen) y versión con barrido (la mejora), y el protocolo de pruebas para llenar los datos que faltan en el resumen. Léanla entera antes de la próxima sesión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corchetes del resumen son compromisos. Todo lo que sigue sirve para llenarlos con datos reales, no estimados.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bloques. Cada estudiante debería poder explicar cualquiera de los seis en un minuto, con el auto en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Impriman esta tabla y péguenla dentro de la caja del auto. En Temuco, lo que falla es un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jurado pregunta por qué dos packs: separar el ruido de los motores del microcontrolador. Si pregunta por el servo: explicar que el tope por software mantiene al servo fuera de la zona de bloqueo y que el registro de reinicios es la evidencia de que alcanza.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resumen ya anticipa que las colisiones se concentran en obstáculos oblicuos o laterales. Esta lámina explica por qué: es física del sensor, no un error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del resumen. Que cualquiera del equipo pueda dibujar las tres zonas y explicar la histéresis con un ejemplo numérico.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controlador P, el más simple que existe. Si el jurado pregunta por PID: no hay término integral ni derivativo porque la planta es lenta y el sensor ruidoso; con P y la histéresis basta y es explicable por estudiantes de primer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Mayor ángulo = izquierda en este auto. Esta es una decisión de diseño que conviene reconocer en la presentación: el varillaje da poco recorrido, y la tracción diferencial lo 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retroceder con las ruedas giradas hacia un lado, la trompa gira hacia el contrario, como al estacionar. Por eso para salir hacia la izquierda se retrocede con las ruedas a la derecha. Ensayen explicarlo con el auto en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del cuadro azul es la que va a hacer el jurado. La respuesta está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pausar, el ESP32 imprime la línea CORRIDA con tiempo, evasiones, barridos y atrapamientos. Esa línea es la fila de la planilla.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Percepción, decisión, actuación: las tres palabras del resumen, en una vuelta del bucle.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pista es parte del método: si cambia entre corridas, los números no se pueden comparar. Decidan la pista una vez, fotografíenla y no la toquen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roles: operador del celular, observador que anota, camarógrafo. Rotar los roles entre corridas para que todos sepan hacer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filas de la tabla son un ejemplo del formato, no datos. La planilla real va en el repositorio como CSV, y de ahí salen las cifras del resumen y un gráfico para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ajuste de medición es lo que distingue un experimento de una demostración. Si durante las corridas que cuentan cambian un parámetro, las anteriores se descartan.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estudiante se encarga de esta tabla esta semana. Es la cifra más fácil de conseguir y la más fácil de olvidar.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lámina posible de la presentación del congreso: problema, solución,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las limitaciones primero quita al jurado la oportunidad de "descubrirlas" y muestra que el equipo entiende el sistema. Cada limitación viene con su mejora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Asignar cada pregunta a un estudiante y ensayar las respuestas en voz alta, con cronómetro: 30 segundos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de respaldo no es opcional: en un congreso el piso puede ser alfombra y el espacio un pasillo. Si la demo en vivo no se puede hacer, el video más la telemetría en el celular mantienen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Las tres ideas de esta lámina son las tres frases con que debería terminar la presentación en Temuco.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97"/>
            <a:ext cx="10566400" cy="419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97"/>
            <a:ext cx="10566400" cy="419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GUÍA PARA EL EQUIPO · CONGRESO TEMUCO 2026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4120"/>
            <a:ext cx="9810750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8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Vehículo autónomo con evasión de obstáculos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753360"/>
            <a:ext cx="915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D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funciona el auto, cómo se calibra y cómo se prueba para obtener los datos que prometimos en el resumen.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96560"/>
            <a:ext cx="6255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 Congreso de Ingeniería Aplicada a la Industria Sustentable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796280"/>
            <a:ext cx="6790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Universidad Autónoma de Chile · Sede Temuco · 21 y 22 de octubre de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08519" y="5796280"/>
            <a:ext cx="3670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Facultad de Ingeniería · Sede Santiago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DICE EL RESUMEN ENVIADO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prometimos y qué datos faltan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175250" cy="2621915"/>
          </a:xfrm>
          <a:prstGeom prst="roundRect">
            <a:avLst>
              <a:gd name="adj" fmla="val 375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057" y="2036657"/>
            <a:ext cx="48565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ya está escrito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289" y="2382096"/>
            <a:ext cx="4770687" cy="1841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Vehículo a escala, bajo costo, de estudiantes de primer año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 + L298N + 2 motores DC + servo de dirección + 3 HC-SR04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Máquina de estados con tres zonas por distancia frontal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Crítica: retrocede y avanza en arco "como al estacionar"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Histéresis de 5 cm para no oscilar entre zonas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806575"/>
            <a:ext cx="5175250" cy="2621915"/>
          </a:xfrm>
          <a:prstGeom prst="roundRect">
            <a:avLst>
              <a:gd name="adj" fmla="val 3754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0857" y="2036657"/>
            <a:ext cx="48565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hay que medir (corchetes del resumen)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9089" y="2382096"/>
            <a:ext cx="4770687" cy="132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[N] recorridos de un circuito de [X] m con [N] obstáculos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[X] % de recorridos completados sin colisiones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 promedio [X ± Y] segundos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Costo de materiales [$X] CLP</a:t>
            </a:r>
            <a:endParaRPr lang="en-US" sz="1400" dirty="0"/>
          </a:p>
          <a:p>
            <a:pPr algn="l" marL="175768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se concentraron las colisiones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685665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resumen describe la </a:t>
            </a:r>
            <a:r>
              <a:rPr lang="en-US" sz="1400" b="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versión reactiva</a:t>
            </a:r>
            <a:r>
              <a:rPr lang="en-US" sz="14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Esa es la que se evalúa primero. El barrido y las demás mejoras se presentan como trabajo adicional, con sus propios datos.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Arquitectura del hardware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8000"/>
            <a:ext cx="3420533" cy="1350433"/>
          </a:xfrm>
          <a:prstGeom prst="roundRect">
            <a:avLst>
              <a:gd name="adj" fmla="val 6583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955800"/>
            <a:ext cx="31568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Cerebro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247900"/>
            <a:ext cx="315688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 sobre shield con regulador. Lee sensores, decide, mueve motores y servos, y sirve la página WiFi.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908" y="1781175"/>
            <a:ext cx="3414183" cy="1344083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190" y="1960457"/>
            <a:ext cx="31472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68190" y="2252557"/>
            <a:ext cx="31472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Puente H L298N y dos motores DC traseros. Motor A = rueda derecha, motor B = rueda izquierda. PWM a 1 kHz.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42" y="1781175"/>
            <a:ext cx="3414183" cy="1344083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123" y="1960457"/>
            <a:ext cx="31472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41123" y="2252557"/>
            <a:ext cx="31472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Servo estándar sobre las ruedas delanteras. Centro 100°, recorrido útil 78° a 117° (±17°).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284009"/>
            <a:ext cx="3414183" cy="1344083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257" y="3463289"/>
            <a:ext cx="31472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Percepción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5257" y="3755389"/>
            <a:ext cx="31472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HC-SR04: dos laterales fijos a ~45° y uno central montado sobre un micro servo que puede barrer ±45°.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908" y="3284009"/>
            <a:ext cx="3414183" cy="1344083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8190" y="3463289"/>
            <a:ext cx="31472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Energía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68190" y="3755389"/>
            <a:ext cx="31472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18650 de 2600 mAh en dos packs de 7,4 V: uno para el L298N y motores, otro para el shield del ESP32.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42" y="3284009"/>
            <a:ext cx="3414183" cy="1344083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1123" y="3463289"/>
            <a:ext cx="31472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Interfaz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41123" y="3755389"/>
            <a:ext cx="31472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ESP32 crea su propia red WiFi. Un celular muestra sensores, mapa, cronómetro y botones de inicio y pausa.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Mapa de conexiones del ESP32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600"/>
            <a:ext cx="6350000" cy="30932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59625" y="1752600"/>
            <a:ext cx="0" cy="3093297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842722"/>
            <a:ext cx="63500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1761913"/>
          <a:ext cx="6336030" cy="3079327"/>
        </p:xfrm>
        <a:graphic>
          <a:graphicData uri="http://schemas.openxmlformats.org/drawingml/2006/table">
            <a:tbl>
              <a:tblPr/>
              <a:tblGrid>
                <a:gridCol w="2154250"/>
                <a:gridCol w="2090890"/>
                <a:gridCol w="2090890"/>
              </a:tblGrid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Señal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GPIO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Motor A (derecha)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ENA · IN1 · IN2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 · 26 · 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Motor B (izquierda)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ENB · IN3 · IN4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 · 32 · 19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Servo de dirección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señal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Servo de barrido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señal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HC-SR04 derecho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Trig · Echo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 · 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16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HC-SR04 central (sobre servo)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Trig · Echo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 · 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HC-SR04 izquierdo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Trig · Echo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 · 22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69175" y="1755775"/>
            <a:ext cx="4006850" cy="3132455"/>
          </a:xfrm>
          <a:prstGeom prst="roundRect">
            <a:avLst>
              <a:gd name="adj" fmla="val 3142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3857" y="1960457"/>
            <a:ext cx="37054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que no se negocian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59201" y="2277957"/>
            <a:ext cx="3612447" cy="2430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del L298N unido al GND del ESP32: sin tierra común nada funciona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Jumper 5V-EN del L298N puesto; jumpers de ENA y ENB quitados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Echo de cada sensor pasa por divisor resistivo: 5 V al sensor, 3,3 V al ESP32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GPIO 12 es pin de arranque: si el auto no enciende, mover ese Echo a 34, 35, 36 o 39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Cables del sensor móvil con holgura y asegurados: es el que más se suelta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CONSTRUCCIÓN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5109"/>
            <a:ext cx="10883392" cy="436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7"/>
              </a:lnSpc>
              <a:buNone/>
            </a:pPr>
            <a:r>
              <a:rPr lang="en-US" sz="297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Alimentación: dos packs, una tierra</a:t>
            </a:r>
            <a:endParaRPr lang="en-US" sz="2970" dirty="0"/>
          </a:p>
        </p:txBody>
      </p:sp>
      <p:sp>
        <p:nvSpPr>
          <p:cNvPr id="4" name="Shape 2"/>
          <p:cNvSpPr/>
          <p:nvPr/>
        </p:nvSpPr>
        <p:spPr>
          <a:xfrm>
            <a:off x="815975" y="1702541"/>
            <a:ext cx="3397250" cy="3199447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57" y="1907223"/>
            <a:ext cx="30775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 1 · 7,4 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0657" y="2224723"/>
            <a:ext cx="307752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al L298N (bornes 12V y GND). Alimenta los motores. Su regulador interno de 5 V alimenta la lógica del puente.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657" y="3271202"/>
            <a:ext cx="3077523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L298N pierde 2 a 3 V: los motores ven ~5 V. Por eso el PWM mínimo útil es 125.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1702541"/>
            <a:ext cx="3397250" cy="3199447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2057" y="1907223"/>
            <a:ext cx="30775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 2 · 7,4 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02057" y="2224723"/>
            <a:ext cx="3077523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al jack del shield. El regulador del shield da 5 V al ESP32, a los tres sensores y al servo de barrido.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2057" y="3031809"/>
            <a:ext cx="3077523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WiFi tiene picos de 400 mA. Si el ESP32 se reinicia, el registro dice "reset 9": brownout.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1702541"/>
            <a:ext cx="3397250" cy="3199447"/>
          </a:xfrm>
          <a:prstGeom prst="roundRect">
            <a:avLst>
              <a:gd name="adj" fmla="val 3076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457" y="1907223"/>
            <a:ext cx="3077523" cy="23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392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Riesgo monitoreado</a:t>
            </a:r>
            <a:endParaRPr lang="en-US" sz="1392" dirty="0"/>
          </a:p>
        </p:txBody>
      </p:sp>
      <p:sp>
        <p:nvSpPr>
          <p:cNvPr id="14" name="Text 12"/>
          <p:cNvSpPr/>
          <p:nvPr/>
        </p:nvSpPr>
        <p:spPr>
          <a:xfrm>
            <a:off x="8183457" y="2204827"/>
            <a:ext cx="3077523" cy="111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0"/>
              </a:lnSpc>
              <a:buNone/>
            </a:pPr>
            <a:r>
              <a:rPr lang="en-US" sz="1186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servo de dirección se alimenta del 5 V del L298N, un regulador de 0,5 A (el disipador del módulo enfría el puente, no el regulador). Un servo bloqueado pide 1 a 2 A y haría caer ese 5 V.</a:t>
            </a:r>
            <a:endParaRPr lang="en-US" sz="1186" dirty="0"/>
          </a:p>
        </p:txBody>
      </p:sp>
      <p:sp>
        <p:nvSpPr>
          <p:cNvPr id="15" name="Text 13"/>
          <p:cNvSpPr/>
          <p:nvPr/>
        </p:nvSpPr>
        <p:spPr>
          <a:xfrm>
            <a:off x="8183457" y="3386243"/>
            <a:ext cx="3077523" cy="1336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0"/>
              </a:lnSpc>
              <a:buNone/>
            </a:pPr>
            <a:r>
              <a:rPr lang="en-US" sz="1186" b="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hoy no pasa: los topes por software (78°–117°) impiden que el servo fuerce el tope mecánico. En las pruebas no ha habido reinicios. Si el registro muestra "reset 9", alimentar los servos aparte.</a:t>
            </a:r>
            <a:endParaRPr lang="en-US" sz="1186" dirty="0"/>
          </a:p>
        </p:txBody>
      </p:sp>
      <p:sp>
        <p:nvSpPr>
          <p:cNvPr id="16" name="Text 14"/>
          <p:cNvSpPr/>
          <p:nvPr/>
        </p:nvSpPr>
        <p:spPr>
          <a:xfrm>
            <a:off x="812800" y="5108364"/>
            <a:ext cx="10566400" cy="733637"/>
          </a:xfrm>
          <a:prstGeom prst="roundRect">
            <a:avLst>
              <a:gd name="adj" fmla="val 12118"/>
            </a:avLst>
          </a:prstGeom>
          <a:solidFill>
            <a:srgbClr val="14213D"/>
          </a:solidFill>
          <a:ln/>
        </p:spPr>
        <p:txBody>
          <a:bodyPr wrap="square" lIns="177162" tIns="96940" rIns="0" bIns="96940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cada recorrido:</a:t>
            </a: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medir ambos packs. Menos de 7,0 V = cambiar pilas. Bajo 6,8 V el regulador del L298N deja de dar 5 V y el auto "se vuelve loco" sin que nada esté roto.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PERCEPCIÓN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mide un HC-SR04 y qué puede fallar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397250" cy="3707977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57" y="1960457"/>
            <a:ext cx="30775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medición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1777" y="2277957"/>
            <a:ext cx="2998783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ESP32 pone Trig en alto 10 µs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sensor emite 8 pulsos a 40 kHz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Echo queda en alto hasta que vuelve el eco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distancia = tiempo × 0,0343 / 2 (cm)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eco en 30 ms (más de 5 m): el código devuelve 999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755775"/>
            <a:ext cx="3397250" cy="3707977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2057" y="1960457"/>
            <a:ext cx="30775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lo usamos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7401" y="2277957"/>
            <a:ext cx="2984559" cy="300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lecturas por vuelta: izquierdo, central, derecho, con 40 ms entre ellas para que el eco de uno no entre en el otro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barrido, mediana de 3 lecturas por ángulo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999 nunca se trata como "libre a toda velocidad": el auto baja a velocidad de precaución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Laterales fijos a ~45°; central sobre el servo, mirando al frente mientras anda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755775"/>
            <a:ext cx="3397250" cy="3707977"/>
          </a:xfrm>
          <a:prstGeom prst="roundRect">
            <a:avLst>
              <a:gd name="adj" fmla="val 2897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457" y="1960457"/>
            <a:ext cx="30775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el sensor no 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68801" y="2277957"/>
            <a:ext cx="2984559" cy="1768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Superficies oblicuas: el eco rebota hacia otro lado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Tela, espuma, cortinas: absorben el ultrasonido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Objetos más bajos que el sensor o más angostos que el haz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de 2 cm: lectura inválida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457" y="4109721"/>
            <a:ext cx="307752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Obstáculos de prueba: cajas de cartón rígidas, de al menos 25 cm de alto y 20 cm de ancho.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MÁQUINA DE ESTADOS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zonas según la distancia frontal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600"/>
            <a:ext cx="3522133" cy="2246630"/>
          </a:xfrm>
          <a:custGeom>
            <a:avLst/>
            <a:gdLst/>
            <a:ahLst/>
            <a:cxnLst/>
            <a:rect l="l" t="t" r="r" b="b"/>
            <a:pathLst>
              <a:path w="3522133" h="2246630">
                <a:moveTo>
                  <a:pt x="101600" y="0"/>
                </a:moveTo>
                <a:lnTo>
                  <a:pt x="3522133" y="0"/>
                </a:lnTo>
                <a:lnTo>
                  <a:pt x="3522133" y="2246630"/>
                </a:lnTo>
                <a:lnTo>
                  <a:pt x="101600" y="22466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DFF3E4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55800"/>
            <a:ext cx="32092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7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 · MÁS DE 50 CM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245361"/>
            <a:ext cx="320920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7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Avanza a 200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6000" y="2819400"/>
            <a:ext cx="3209205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B4A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Rumbo proporcional con los laterales si alguno está a menos de 60 cm. Si ninguno, recto.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933" y="1752600"/>
            <a:ext cx="3522133" cy="2246630"/>
          </a:xfrm>
          <a:prstGeom prst="rect">
            <a:avLst/>
          </a:prstGeom>
          <a:solidFill>
            <a:srgbClr val="FFF1C9"/>
          </a:solidFill>
          <a:ln/>
        </p:spPr>
      </p:sp>
      <p:sp>
        <p:nvSpPr>
          <p:cNvPr id="9" name="Text 7"/>
          <p:cNvSpPr/>
          <p:nvPr/>
        </p:nvSpPr>
        <p:spPr>
          <a:xfrm>
            <a:off x="4538133" y="1955800"/>
            <a:ext cx="32092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PRECAUCIÓN · 25 A 50 CM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8133" y="2245361"/>
            <a:ext cx="320920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8A5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Baja a 145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38133" y="2819400"/>
            <a:ext cx="3209205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velocidad baja linealmente con la distancia. Mismo control de rumbo, con la rueda interior frenada.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57067" y="1752600"/>
            <a:ext cx="3522133" cy="2246630"/>
          </a:xfrm>
          <a:custGeom>
            <a:avLst/>
            <a:gdLst/>
            <a:ahLst/>
            <a:cxnLst/>
            <a:rect l="l" t="t" r="r" b="b"/>
            <a:pathLst>
              <a:path w="3522133" h="2246630">
                <a:moveTo>
                  <a:pt x="0" y="0"/>
                </a:moveTo>
                <a:lnTo>
                  <a:pt x="3420533" y="0"/>
                </a:lnTo>
                <a:arcTo hR="101600" wR="101600" stAng="16200000" swAng="5400000"/>
                <a:lnTo>
                  <a:pt x="3522133" y="2145030"/>
                </a:lnTo>
                <a:arcTo hR="101600" wR="101600" stAng="0" swAng="5400000"/>
                <a:lnTo>
                  <a:pt x="0" y="2246630"/>
                </a:lnTo>
                <a:lnTo>
                  <a:pt x="0" y="0"/>
                </a:lnTo>
                <a:close/>
              </a:path>
            </a:pathLst>
          </a:custGeom>
          <a:solidFill>
            <a:srgbClr val="FADADA"/>
          </a:solidFill>
          <a:ln/>
        </p:spPr>
      </p:sp>
      <p:sp>
        <p:nvSpPr>
          <p:cNvPr id="13" name="Text 11"/>
          <p:cNvSpPr/>
          <p:nvPr/>
        </p:nvSpPr>
        <p:spPr>
          <a:xfrm>
            <a:off x="8060267" y="1955800"/>
            <a:ext cx="32092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5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CRÍTICA · 25 CM O MENOS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0267" y="2245361"/>
            <a:ext cx="3209205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522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detiene y evade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60267" y="3317239"/>
            <a:ext cx="3209205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26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Elige un lado (laterales o barrido) y ejecuta la maniobra en lazo cerrado.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205604"/>
            <a:ext cx="5187950" cy="1559983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257" y="4384886"/>
            <a:ext cx="49742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Histéresis de 5 cm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5257" y="4661746"/>
            <a:ext cx="497426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salir de una zona hacia una más relajada hay que superar el umbral en 5 cm: de crítica a precaución recién a 30 cm, de precaución a libre recién a 55 cm. Sin esto, a 50 cm el auto alternaría entre dos velocidades diez veces por segundo.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8075" y="4205604"/>
            <a:ext cx="5187950" cy="1559983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7357" y="4384886"/>
            <a:ext cx="49742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25 y 50 y no 20 y 40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67357" y="4661746"/>
            <a:ext cx="497426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vuelta del bucle toma hasta 250 ms (tres sensores). A velocidad normal el auto avanza ~8 cm entre lecturas. Con 20 cm llegaba a la pared antes de reaccionar. En el congreso, digan los valores que efectivamente usaron en las pruebas.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87760" y="6238239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ZONAS LIBRE Y PRECAUCIÓN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4212"/>
            <a:ext cx="10883392" cy="45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proporcional de rumbo con los laterales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2800" y="1727516"/>
            <a:ext cx="4826000" cy="4114483"/>
          </a:xfrm>
          <a:prstGeom prst="roundRect">
            <a:avLst>
              <a:gd name="adj" fmla="val 246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56116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REGLA, EN UNA LÍNEA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296477"/>
            <a:ext cx="4499864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7F8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desvío = 0,35 × (dDerecha − dIzquierda)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3149916"/>
            <a:ext cx="449986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grados de servo, recortado a ±17°. Positivo = girar a la derecha. Los 999 se recortan a 100 cm. Solo actúa si algún lateral está a menos de 60 cm; en espacio abierto el auto va recto.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4234495"/>
            <a:ext cx="449986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Ejemplo: pared a 20 cm a la izquierda, nada a la derecha: 0,35 × (100 − 20) = 28 → recortado a 17° a la derecha.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19775" y="1730691"/>
            <a:ext cx="5556250" cy="1280477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99057" y="1909973"/>
            <a:ext cx="535361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Tracción diferencial</a:t>
            </a:r>
            <a:endParaRPr lang="en-US" sz="1352" dirty="0"/>
          </a:p>
        </p:txBody>
      </p:sp>
      <p:sp>
        <p:nvSpPr>
          <p:cNvPr id="11" name="Text 9"/>
          <p:cNvSpPr/>
          <p:nvPr/>
        </p:nvSpPr>
        <p:spPr>
          <a:xfrm>
            <a:off x="5999057" y="2175405"/>
            <a:ext cx="535361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Mientras el servo gira, la rueda trasera del lado interior se frena en proporción al desvío (hasta un 45 % de la exterior). El auto gira más cerrado de lo que el servo solo permite.</a:t>
            </a:r>
            <a:endParaRPr lang="en-US" sz="1231" dirty="0"/>
          </a:p>
        </p:txBody>
      </p:sp>
      <p:sp>
        <p:nvSpPr>
          <p:cNvPr id="12" name="Shape 10"/>
          <p:cNvSpPr/>
          <p:nvPr/>
        </p:nvSpPr>
        <p:spPr>
          <a:xfrm>
            <a:off x="5819775" y="3144521"/>
            <a:ext cx="5556250" cy="128047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9057" y="3323800"/>
            <a:ext cx="535361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 según el frente</a:t>
            </a:r>
            <a:endParaRPr lang="en-US" sz="1352" dirty="0"/>
          </a:p>
        </p:txBody>
      </p:sp>
      <p:sp>
        <p:nvSpPr>
          <p:cNvPr id="14" name="Text 12"/>
          <p:cNvSpPr/>
          <p:nvPr/>
        </p:nvSpPr>
        <p:spPr>
          <a:xfrm>
            <a:off x="5999057" y="3589232"/>
            <a:ext cx="535361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7"/>
              </a:lnSpc>
              <a:buNone/>
            </a:pPr>
            <a:r>
              <a:rPr lang="en-US" sz="1255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con más de 50 cm libres; baja en línea recta hasta 145 a 25 cm. 125 es el PWM mínimo que mueve el auto cargado, por eso 145 y no menos.</a:t>
            </a:r>
            <a:endParaRPr lang="en-US" sz="1255" dirty="0"/>
          </a:p>
        </p:txBody>
      </p:sp>
      <p:sp>
        <p:nvSpPr>
          <p:cNvPr id="15" name="Shape 13"/>
          <p:cNvSpPr/>
          <p:nvPr/>
        </p:nvSpPr>
        <p:spPr>
          <a:xfrm>
            <a:off x="5819775" y="4558345"/>
            <a:ext cx="5556250" cy="1280477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9057" y="4737627"/>
            <a:ext cx="535361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resolvió</a:t>
            </a:r>
            <a:endParaRPr lang="en-US" sz="1352" dirty="0"/>
          </a:p>
        </p:txBody>
      </p:sp>
      <p:sp>
        <p:nvSpPr>
          <p:cNvPr id="17" name="Text 15"/>
          <p:cNvSpPr/>
          <p:nvPr/>
        </p:nvSpPr>
        <p:spPr>
          <a:xfrm>
            <a:off x="5999057" y="5003062"/>
            <a:ext cx="535361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el auto quedaba pegado a la pared: el sensor central veía libre y la corrección era de dos niveles. Ahora se aleja de forma continua del lado más cercano.</a:t>
            </a:r>
            <a:endParaRPr lang="en-US" sz="1231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87760" y="6238242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ACTUACIÓN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4209"/>
            <a:ext cx="10883392" cy="45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Dirección: lo que el servo puede y lo que no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2800" y="1727516"/>
            <a:ext cx="5207000" cy="29684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016625" y="1727516"/>
            <a:ext cx="0" cy="2968413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692755"/>
            <a:ext cx="52070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1736830"/>
          <a:ext cx="5193030" cy="2954443"/>
        </p:xfrm>
        <a:graphic>
          <a:graphicData uri="http://schemas.openxmlformats.org/drawingml/2006/table">
            <a:tbl>
              <a:tblPr/>
              <a:tblGrid>
                <a:gridCol w="2596515"/>
                <a:gridCol w="1298257"/>
                <a:gridCol w="1298257"/>
              </a:tblGrid>
              <a:tr h="58716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Posición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Rueda interior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Derecha fuerte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78°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detenida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Derecha suave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Centro (avanza recto)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Izquierda suave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110°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560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Izquierda fuerte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117°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detenida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16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Pivote (solo en evasión)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fuerte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reversa a fondo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00775" y="1730691"/>
            <a:ext cx="5175250" cy="1280477"/>
          </a:xfrm>
          <a:prstGeom prst="roundRect">
            <a:avLst>
              <a:gd name="adj" fmla="val 6695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0057" y="1909973"/>
            <a:ext cx="496118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 físico</a:t>
            </a:r>
            <a:endParaRPr lang="en-US" sz="1352" dirty="0"/>
          </a:p>
        </p:txBody>
      </p:sp>
      <p:sp>
        <p:nvSpPr>
          <p:cNvPr id="10" name="Text 7"/>
          <p:cNvSpPr/>
          <p:nvPr/>
        </p:nvSpPr>
        <p:spPr>
          <a:xfrm>
            <a:off x="6380057" y="2175402"/>
            <a:ext cx="496118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Topes medidos: 75° y 120°. Con ±17° útiles el radio de giro con el servo solo es de 60 a 80 cm. Un rincón más chico que eso no se puede salir girando hacia adelante: solo pivotando.</a:t>
            </a:r>
            <a:endParaRPr lang="en-US" sz="1231" dirty="0"/>
          </a:p>
        </p:txBody>
      </p:sp>
      <p:sp>
        <p:nvSpPr>
          <p:cNvPr id="11" name="Shape 8"/>
          <p:cNvSpPr/>
          <p:nvPr/>
        </p:nvSpPr>
        <p:spPr>
          <a:xfrm>
            <a:off x="6200775" y="3144521"/>
            <a:ext cx="5175250" cy="1280478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0057" y="3323803"/>
            <a:ext cx="496118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Tope por software</a:t>
            </a:r>
            <a:endParaRPr lang="en-US" sz="1352" dirty="0"/>
          </a:p>
        </p:txBody>
      </p:sp>
      <p:sp>
        <p:nvSpPr>
          <p:cNvPr id="13" name="Text 10"/>
          <p:cNvSpPr/>
          <p:nvPr/>
        </p:nvSpPr>
        <p:spPr>
          <a:xfrm>
            <a:off x="6380057" y="3589232"/>
            <a:ext cx="496118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escritura al servo pasa por una sola función que recorta a 78°–117°. Aunque la lógica pida otra cosa, el servo nunca fuerza el tope mecánico (y nunca pide 2 A al regulador).</a:t>
            </a:r>
            <a:endParaRPr lang="en-US" sz="1231" dirty="0"/>
          </a:p>
        </p:txBody>
      </p:sp>
      <p:sp>
        <p:nvSpPr>
          <p:cNvPr id="14" name="Shape 11"/>
          <p:cNvSpPr/>
          <p:nvPr/>
        </p:nvSpPr>
        <p:spPr>
          <a:xfrm>
            <a:off x="6200775" y="4558345"/>
            <a:ext cx="5175250" cy="1280477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0057" y="4737627"/>
            <a:ext cx="496118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352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se desmonta el brazo</a:t>
            </a:r>
            <a:endParaRPr lang="en-US" sz="1352" dirty="0"/>
          </a:p>
        </p:txBody>
      </p:sp>
      <p:sp>
        <p:nvSpPr>
          <p:cNvPr id="16" name="Text 13"/>
          <p:cNvSpPr/>
          <p:nvPr/>
        </p:nvSpPr>
        <p:spPr>
          <a:xfrm>
            <a:off x="6380057" y="5003062"/>
            <a:ext cx="4961187" cy="68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Repetir la calibración con calibracion_servos.ino: centrar a 90° eléctrico, montar con ruedas rectas, buscar topes de 5 en 5, anotar centro y topes en el código.</a:t>
            </a:r>
            <a:endParaRPr lang="en-US" sz="1231" dirty="0"/>
          </a:p>
        </p:txBody>
      </p:sp>
      <p:sp>
        <p:nvSpPr>
          <p:cNvPr id="17" name="Text 14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287760" y="6238242"/>
            <a:ext cx="14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ZONA CRÍTICA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Maniobra de evasión en lazo cerrado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600"/>
            <a:ext cx="2260600" cy="1435100"/>
          </a:xfrm>
          <a:prstGeom prst="roundRect">
            <a:avLst>
              <a:gd name="adj" fmla="val 6195"/>
            </a:avLst>
          </a:prstGeom>
          <a:solidFill>
            <a:srgbClr val="FADAD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9050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522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Detener y elegir lado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2181858"/>
            <a:ext cx="201447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26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Reactiva: el lateral más lejano. Barrido: el hueco más ancho del mapa.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2381250"/>
            <a:ext cx="3048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81400" y="1752600"/>
            <a:ext cx="2260600" cy="1435100"/>
          </a:xfrm>
          <a:prstGeom prst="roundRect">
            <a:avLst>
              <a:gd name="adj" fmla="val 6195"/>
            </a:avLst>
          </a:prstGeom>
          <a:solidFill>
            <a:srgbClr val="FFF1C9"/>
          </a:solidFill>
          <a:ln/>
        </p:spPr>
      </p:sp>
      <p:sp>
        <p:nvSpPr>
          <p:cNvPr id="9" name="Text 6"/>
          <p:cNvSpPr/>
          <p:nvPr/>
        </p:nvSpPr>
        <p:spPr>
          <a:xfrm>
            <a:off x="3733800" y="19050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Retroceder orientando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33800" y="2181858"/>
            <a:ext cx="201447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Ruedas al lado opuesto, cola frenada, hasta ver ≥ 45 cm al frente (tope 1,5 s).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381250"/>
            <a:ext cx="3048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50000" y="1752600"/>
            <a:ext cx="2260600" cy="1435100"/>
          </a:xfrm>
          <a:prstGeom prst="roundRect">
            <a:avLst>
              <a:gd name="adj" fmla="val 6195"/>
            </a:avLst>
          </a:prstGeom>
          <a:solidFill>
            <a:srgbClr val="FFF1C9"/>
          </a:solidFill>
          <a:ln/>
        </p:spPr>
      </p:sp>
      <p:sp>
        <p:nvSpPr>
          <p:cNvPr id="13" name="Text 9"/>
          <p:cNvSpPr/>
          <p:nvPr/>
        </p:nvSpPr>
        <p:spPr>
          <a:xfrm>
            <a:off x="6502400" y="19050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Avanzar en arco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02400" y="2181858"/>
            <a:ext cx="201447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4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Ruedas al lado elegido, interior detenida, hasta ver ≥ 60 cm (tope 1,5 s; corta si se acerca a otro obstáculo).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381250"/>
            <a:ext cx="304800" cy="177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18600" y="1752600"/>
            <a:ext cx="2260600" cy="1435100"/>
          </a:xfrm>
          <a:prstGeom prst="roundRect">
            <a:avLst>
              <a:gd name="adj" fmla="val 6195"/>
            </a:avLst>
          </a:prstGeom>
          <a:solidFill>
            <a:srgbClr val="DFF3E4"/>
          </a:solidFill>
          <a:ln/>
        </p:spPr>
      </p:sp>
      <p:sp>
        <p:nvSpPr>
          <p:cNvPr id="17" name="Text 12"/>
          <p:cNvSpPr/>
          <p:nvPr/>
        </p:nvSpPr>
        <p:spPr>
          <a:xfrm>
            <a:off x="9271000" y="19050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7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¿Frente libre?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271000" y="2181858"/>
            <a:ext cx="201447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4A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de 30 cm: sigue en modo normal. Si no, siguiente intento.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3394075"/>
            <a:ext cx="3400319" cy="1791123"/>
          </a:xfrm>
          <a:prstGeom prst="roundRect">
            <a:avLst>
              <a:gd name="adj" fmla="val 478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5257" y="3573357"/>
            <a:ext cx="3133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Intento 2 · pivote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95257" y="3850215"/>
            <a:ext cx="313300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Dirección fuerte hacia el lado elegido, rueda interior en reversa a fondo y exterior adelante durante 900 ms: gira casi sobre su eje. Es la única salida de un rincón.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400444" y="3394075"/>
            <a:ext cx="3400425" cy="1791123"/>
          </a:xfrm>
          <a:prstGeom prst="roundRect">
            <a:avLst>
              <a:gd name="adj" fmla="val 478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9726" y="3573357"/>
            <a:ext cx="31331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Intento 3 · el otro lado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579726" y="3850215"/>
            <a:ext cx="313311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Retrocede recto hasta ver 45 cm y pivota hacia el lado contrario. Si tampoco despeja, se declara atrapado, se detiene y avisa en la página.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981845" y="3390900"/>
            <a:ext cx="3397356" cy="1797473"/>
          </a:xfrm>
          <a:prstGeom prst="roundRect">
            <a:avLst>
              <a:gd name="adj" fmla="val 4946"/>
            </a:avLst>
          </a:prstGeom>
          <a:solidFill>
            <a:srgbClr val="14213D"/>
          </a:solidFill>
          <a:ln/>
        </p:spPr>
      </p:sp>
      <p:sp>
        <p:nvSpPr>
          <p:cNvPr id="26" name="Text 21"/>
          <p:cNvSpPr/>
          <p:nvPr/>
        </p:nvSpPr>
        <p:spPr>
          <a:xfrm>
            <a:off x="8159645" y="3568700"/>
            <a:ext cx="3133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"lazo cerrado"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159645" y="3845558"/>
            <a:ext cx="313300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versión del resumen retrocedía y avanzaba tiempos fijos sin mirar. Ahora cada paso termina cuando el sensor dice que terminó. Es la diferencia entre un reloj y un controlador.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VERSIÓN 2 (MEJORA)</a:t>
            </a:r>
            <a:endParaRPr lang="en-US" sz="101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6589"/>
            <a:ext cx="10883392" cy="397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Barrido ultrasónico: un mapa local antes de salir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644966"/>
            <a:ext cx="5395807" cy="4193858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57" y="1849648"/>
            <a:ext cx="51360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hace al entrar en crítica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1777" y="2167148"/>
            <a:ext cx="5057297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detiene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servo lleva el sensor central de 45° a 135°, de 15 en 15: siete lecturas (mediana de 3 cada una)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 los laterales y los combina con la celda de ±45° tomando el mínimo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 el hueco más ancho: lecturas seguidas con más de 50 cm</a:t>
            </a:r>
            <a:endParaRPr lang="en-US" sz="1300" dirty="0"/>
          </a:p>
          <a:p>
            <a:pPr algn="l" marL="182880" indent="-182880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centro del hueco define el lado; la maniobra es la misma de lazo cerrado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92757" y="1641791"/>
            <a:ext cx="4986443" cy="1492673"/>
          </a:xfrm>
          <a:prstGeom prst="roundRect">
            <a:avLst>
              <a:gd name="adj" fmla="val 5956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570557" y="1819591"/>
            <a:ext cx="4769769" cy="19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03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"¿Para qué barrer si tienen tres sensores?"</a:t>
            </a:r>
            <a:endParaRPr lang="en-US" sz="1103" dirty="0"/>
          </a:p>
        </p:txBody>
      </p:sp>
      <p:sp>
        <p:nvSpPr>
          <p:cNvPr id="9" name="Text 7"/>
          <p:cNvSpPr/>
          <p:nvPr/>
        </p:nvSpPr>
        <p:spPr>
          <a:xfrm>
            <a:off x="6570557" y="2050417"/>
            <a:ext cx="4769769" cy="931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9"/>
              </a:lnSpc>
              <a:buNone/>
            </a:pPr>
            <a:r>
              <a:rPr lang="en-US" sz="1178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sensores fijos dan tres puntos y no distinguen un hueco de 20 cm de uno de 1 m. Siete lecturas a 15° dentro del cono por donde el auto puede salir sí lo hacen. Los laterales se suman para cubrir las esquinas, donde el sensor central tiene punto ciego a corta distancia.</a:t>
            </a:r>
            <a:endParaRPr lang="en-US" sz="1178" dirty="0"/>
          </a:p>
        </p:txBody>
      </p:sp>
      <p:sp>
        <p:nvSpPr>
          <p:cNvPr id="10" name="Shape 8"/>
          <p:cNvSpPr/>
          <p:nvPr/>
        </p:nvSpPr>
        <p:spPr>
          <a:xfrm>
            <a:off x="6395932" y="3264638"/>
            <a:ext cx="4980093" cy="1312122"/>
          </a:xfrm>
          <a:prstGeom prst="roundRect">
            <a:avLst>
              <a:gd name="adj" fmla="val 653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5213" y="3443920"/>
            <a:ext cx="4760176" cy="1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03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±45° y no 0–180°</a:t>
            </a:r>
            <a:endParaRPr lang="en-US" sz="1103" dirty="0"/>
          </a:p>
        </p:txBody>
      </p:sp>
      <p:sp>
        <p:nvSpPr>
          <p:cNvPr id="12" name="Text 10"/>
          <p:cNvSpPr/>
          <p:nvPr/>
        </p:nvSpPr>
        <p:spPr>
          <a:xfrm>
            <a:off x="6575213" y="3674325"/>
            <a:ext cx="4760176" cy="74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allá de 45° el sensor apunta a los soportes de los laterales, y el auto no puede salir hacia 80° sin maniobra de todas formas. Menos lecturas, menos tiempo detenido, sin lecturas basura.</a:t>
            </a:r>
            <a:endParaRPr lang="en-US" sz="1268" dirty="0"/>
          </a:p>
        </p:txBody>
      </p:sp>
      <p:sp>
        <p:nvSpPr>
          <p:cNvPr id="13" name="Shape 11"/>
          <p:cNvSpPr/>
          <p:nvPr/>
        </p:nvSpPr>
        <p:spPr>
          <a:xfrm>
            <a:off x="6395932" y="4710113"/>
            <a:ext cx="4980093" cy="1128713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5213" y="4889395"/>
            <a:ext cx="4760176" cy="191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03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Costo</a:t>
            </a:r>
            <a:endParaRPr lang="en-US" sz="1103" dirty="0"/>
          </a:p>
        </p:txBody>
      </p:sp>
      <p:sp>
        <p:nvSpPr>
          <p:cNvPr id="15" name="Text 13"/>
          <p:cNvSpPr/>
          <p:nvPr/>
        </p:nvSpPr>
        <p:spPr>
          <a:xfrm>
            <a:off x="6575213" y="5119160"/>
            <a:ext cx="4760176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097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barrido toma ~1,5 s con el auto detenido. Es el precio de decidir mejor; el tiempo de recorrido lo refleja y por eso se compara con la versión 1.</a:t>
            </a:r>
            <a:endParaRPr lang="en-US" sz="1097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INTERFAZ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Telemetría y control desde el celular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600"/>
            <a:ext cx="3937000" cy="4076700"/>
          </a:xfrm>
          <a:prstGeom prst="roundRect">
            <a:avLst>
              <a:gd name="adj" fmla="val 2581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55800"/>
            <a:ext cx="36365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Conexión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2273300"/>
            <a:ext cx="363651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WiFi: </a:t>
            </a:r>
            <a:r>
              <a:rPr lang="en-US" sz="1300" b="1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RoverUA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Clave: </a:t>
            </a:r>
            <a:r>
              <a:rPr lang="en-US" sz="1300" b="1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roverua2026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Página: </a:t>
            </a:r>
            <a:r>
              <a:rPr lang="en-US" sz="1300" b="1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http://192.168.4.1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3105150"/>
            <a:ext cx="3636518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ESP32 es el punto de acceso: no necesita internet ni router. Funciona igual en Temuco que en el laboratorio.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0775" y="1755775"/>
            <a:ext cx="3155950" cy="119676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4657" y="1909657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Sensores en vivo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4657" y="2158578"/>
            <a:ext cx="293363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Izquierdo, central y derecho, la zona en color, velocidad y ángulo de dirección.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0075" y="1755775"/>
            <a:ext cx="3155950" cy="119676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3957" y="1909657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Mapa del barrido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73957" y="2158578"/>
            <a:ext cx="293363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Papel milimetrado con las siete lecturas, el hueco elegido en amarillo y la flecha de salida.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0775" y="3085889"/>
            <a:ext cx="3155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657" y="3239771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Cronómetro y contadores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4657" y="3488692"/>
            <a:ext cx="293363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 de corrida (no cuenta las pausas), evasiones, barridos y atrapamientos. Son los datos de la planilla.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0075" y="3085889"/>
            <a:ext cx="3155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3957" y="3239771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 de eventos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73957" y="3488692"/>
            <a:ext cx="293363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Cambios de zona con la distancia, intentos de evasión y su resultado, motivo del último reinicio.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0775" y="4629361"/>
            <a:ext cx="3155950" cy="119676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657" y="4783243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Iniciar · Pausar · Reanudar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4657" y="5032164"/>
            <a:ext cx="293363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Pausar detiene de inmediato, incluso en medio de una maniobra. No reemplaza al interruptor físico.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0075" y="4629361"/>
            <a:ext cx="3155950" cy="119676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3957" y="4783243"/>
            <a:ext cx="293363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73957" y="5032164"/>
            <a:ext cx="293363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Botones para posicionar el sensor y la dirección con el auto en pausa.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DECIDE ·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8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vuelta del bucle principal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8000"/>
            <a:ext cx="1747520" cy="1635760"/>
          </a:xfrm>
          <a:prstGeom prst="roundRect">
            <a:avLst>
              <a:gd name="adj" fmla="val 5435"/>
            </a:avLst>
          </a:prstGeom>
          <a:solidFill>
            <a:srgbClr val="1E2F5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930400"/>
            <a:ext cx="1493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2194558"/>
            <a:ext cx="149352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Izq, centro, der con 40 ms entre ellos. Hasta 210 ms si no hay ecos.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9220" y="2513329"/>
            <a:ext cx="279400" cy="165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7520" y="1778000"/>
            <a:ext cx="1747520" cy="1635760"/>
          </a:xfrm>
          <a:prstGeom prst="roundRect">
            <a:avLst>
              <a:gd name="adj" fmla="val 5435"/>
            </a:avLst>
          </a:prstGeom>
          <a:solidFill>
            <a:srgbClr val="1E2F55"/>
          </a:solidFill>
          <a:ln/>
        </p:spPr>
      </p:sp>
      <p:sp>
        <p:nvSpPr>
          <p:cNvPr id="9" name="Text 6"/>
          <p:cNvSpPr/>
          <p:nvPr/>
        </p:nvSpPr>
        <p:spPr>
          <a:xfrm>
            <a:off x="3169920" y="1930400"/>
            <a:ext cx="1493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69920" y="2194558"/>
            <a:ext cx="149352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Zona con histéresis a partir de la distancia central.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3940" y="2513329"/>
            <a:ext cx="279400" cy="1651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22240" y="1778000"/>
            <a:ext cx="1747520" cy="1635760"/>
          </a:xfrm>
          <a:prstGeom prst="roundRect">
            <a:avLst>
              <a:gd name="adj" fmla="val 5435"/>
            </a:avLst>
          </a:prstGeom>
          <a:solidFill>
            <a:srgbClr val="1E2F55"/>
          </a:solidFill>
          <a:ln/>
        </p:spPr>
      </p:sp>
      <p:sp>
        <p:nvSpPr>
          <p:cNvPr id="13" name="Text 9"/>
          <p:cNvSpPr/>
          <p:nvPr/>
        </p:nvSpPr>
        <p:spPr>
          <a:xfrm>
            <a:off x="5374640" y="1930400"/>
            <a:ext cx="1493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Decidir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74640" y="2194558"/>
            <a:ext cx="14935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Crítica: evasión. Si no: desvío proporcional y velocidad según el frente.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8660" y="2513329"/>
            <a:ext cx="279400" cy="1651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26960" y="1778000"/>
            <a:ext cx="1747520" cy="1635760"/>
          </a:xfrm>
          <a:prstGeom prst="roundRect">
            <a:avLst>
              <a:gd name="adj" fmla="val 5435"/>
            </a:avLst>
          </a:prstGeom>
          <a:solidFill>
            <a:srgbClr val="1E2F55"/>
          </a:solidFill>
          <a:ln/>
        </p:spPr>
      </p:sp>
      <p:sp>
        <p:nvSpPr>
          <p:cNvPr id="17" name="Text 12"/>
          <p:cNvSpPr/>
          <p:nvPr/>
        </p:nvSpPr>
        <p:spPr>
          <a:xfrm>
            <a:off x="7579360" y="1930400"/>
            <a:ext cx="1493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579360" y="2194558"/>
            <a:ext cx="149352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Servo de dirección y PWM a cada rueda, con la interior frenada si gira.</a:t>
            </a:r>
            <a:endParaRPr lang="en-US" sz="12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3380" y="2513329"/>
            <a:ext cx="279400" cy="1651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31680" y="1778000"/>
            <a:ext cx="1747520" cy="1635760"/>
          </a:xfrm>
          <a:prstGeom prst="roundRect">
            <a:avLst>
              <a:gd name="adj" fmla="val 5435"/>
            </a:avLst>
          </a:prstGeom>
          <a:solidFill>
            <a:srgbClr val="1E2F55"/>
          </a:solidFill>
          <a:ln/>
        </p:spPr>
      </p:sp>
      <p:sp>
        <p:nvSpPr>
          <p:cNvPr id="21" name="Text 15"/>
          <p:cNvSpPr/>
          <p:nvPr/>
        </p:nvSpPr>
        <p:spPr>
          <a:xfrm>
            <a:off x="9784080" y="1930400"/>
            <a:ext cx="1493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Atender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784080" y="2194558"/>
            <a:ext cx="149352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Página WiFi y telemetría, 50 ms de espera, y vuelta a leer.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2800" y="3642358"/>
            <a:ext cx="3403600" cy="1562100"/>
          </a:xfrm>
          <a:prstGeom prst="roundRect">
            <a:avLst>
              <a:gd name="adj" fmla="val 5691"/>
            </a:avLst>
          </a:prstGeom>
          <a:solidFill>
            <a:srgbClr val="F7F8F5"/>
          </a:solidFill>
          <a:ln/>
        </p:spPr>
      </p:sp>
      <p:sp>
        <p:nvSpPr>
          <p:cNvPr id="24" name="Text 18"/>
          <p:cNvSpPr/>
          <p:nvPr/>
        </p:nvSpPr>
        <p:spPr>
          <a:xfrm>
            <a:off x="990600" y="3820158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a 8 Hz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90600" y="4333242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Frecuencia real del bucle. El límite lo pone el tiempo de vuelo del ultrasonido, no el ESP32.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94200" y="3642358"/>
            <a:ext cx="3403600" cy="1562100"/>
          </a:xfrm>
          <a:prstGeom prst="roundRect">
            <a:avLst>
              <a:gd name="adj" fmla="val 5691"/>
            </a:avLst>
          </a:prstGeom>
          <a:solidFill>
            <a:srgbClr val="F7F8F5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0" y="3820158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~8 cm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4572000" y="4333242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avanza el auto entre dos lecturas a velocidad normal. Por eso la zona crítica empieza a 25 cm.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975600" y="3642358"/>
            <a:ext cx="3403600" cy="1562100"/>
          </a:xfrm>
          <a:prstGeom prst="roundRect">
            <a:avLst>
              <a:gd name="adj" fmla="val 5691"/>
            </a:avLst>
          </a:prstGeom>
          <a:solidFill>
            <a:srgbClr val="F7F8F5"/>
          </a:solidFill>
          <a:ln/>
        </p:spPr>
      </p:sp>
      <p:sp>
        <p:nvSpPr>
          <p:cNvPr id="30" name="Text 24"/>
          <p:cNvSpPr/>
          <p:nvPr/>
        </p:nvSpPr>
        <p:spPr>
          <a:xfrm>
            <a:off x="8153400" y="3820158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hilos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8153400" y="4333242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corre en un solo bucle; las esperas atienden la página, así "Pausar" responde siempre.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PRUEBA · 1 DE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pista: el circuito de [X] m con [N] obstáculos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5708650" cy="3303905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57" y="1960457"/>
            <a:ext cx="54582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Propuesta concreta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6001" y="2277957"/>
            <a:ext cx="5365301" cy="251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Rectángulo de 4 × 2 m en piso liso (baldosa o cerámica), delimitado con cinta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Partida y meta marcadas en los lados cortos: recorrido nominal de 4 m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cajas de cartón de 30 × 30 × 30 cm, separadas al menos 1 m entre sí y 80 cm de las paredes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caja centrada, las otras dos desplazadas a lados opuestos: obliga a dos evasiones y a un cambio de lado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Mismas posiciones para todas las corridas; fotografiar la pista y marcar las cajas con cinta en el piso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08775" y="1755775"/>
            <a:ext cx="4667250" cy="1841712"/>
          </a:xfrm>
          <a:prstGeom prst="roundRect">
            <a:avLst>
              <a:gd name="adj" fmla="val 4655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88057" y="1935057"/>
            <a:ext cx="44379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Restricciones que vienen del auto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73401" y="2211915"/>
            <a:ext cx="4344983" cy="123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Pasillos de 80 cm o más: radio de giro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de rincones ni callejones sin salida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Obstáculos rígidos, altos y de frente plano</a:t>
            </a:r>
            <a:endParaRPr lang="en-US" sz="1300" dirty="0"/>
          </a:p>
          <a:p>
            <a:pPr algn="l" marL="168656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alfombras: las ruedas delanteras arrastran al pivotar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08775" y="3730836"/>
            <a:ext cx="4667250" cy="1328843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8057" y="3910118"/>
            <a:ext cx="44379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Recorrido completado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8057" y="4186975"/>
            <a:ext cx="443794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auto cruza la línea de meta por sus propios medios. Si se declara atrapado, se pausa o alguien lo toca, el recorrido cuenta como no completado.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PRUEBA · 2 DE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Procedimiento de cada recorrido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83" cy="2897611"/>
          </a:xfrm>
          <a:prstGeom prst="roundRect">
            <a:avLst>
              <a:gd name="adj" fmla="val 295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57" y="1935057"/>
            <a:ext cx="31472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7332" y="2402415"/>
            <a:ext cx="3047594" cy="209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los dos packs: 7,0 V o más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 en la partida, centrado, mirando a la meta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conectado, página abierta, sensores en vivo con valores razonables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Cajas en sus marcas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Anotar número de corrida, versión y voltajes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8908" y="1755775"/>
            <a:ext cx="3414183" cy="2897611"/>
          </a:xfrm>
          <a:prstGeom prst="roundRect">
            <a:avLst>
              <a:gd name="adj" fmla="val 295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190" y="1935057"/>
            <a:ext cx="31472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Durante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0265" y="2402415"/>
            <a:ext cx="3047594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"Iniciar corrida": arranca el cronómetro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observador cuenta colisiones (contacto físico con caja o borde) y en qué obstáculo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Otro graba en video desde arriba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Nadie toca el auto ni las cajas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queda atrapado o sale de la pista: "Pausar" y anotar el motivo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61842" y="1755775"/>
            <a:ext cx="3414183" cy="2897611"/>
          </a:xfrm>
          <a:prstGeom prst="roundRect">
            <a:avLst>
              <a:gd name="adj" fmla="val 295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123" y="1935057"/>
            <a:ext cx="314728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Después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33198" y="2402415"/>
            <a:ext cx="3047594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 cruzar la meta: "Pausar" de inmediato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Copiar de la página: tiempo, evasiones, barridos, atrapamientos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Completar la fila de la planilla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Reponer las cajas si se movieron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5 corridas: volver a medir los packs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2800" y="4859759"/>
            <a:ext cx="10566400" cy="767080"/>
          </a:xfrm>
          <a:prstGeom prst="roundRect">
            <a:avLst>
              <a:gd name="adj" fmla="val 11589"/>
            </a:avLst>
          </a:prstGeom>
          <a:solidFill>
            <a:srgbClr val="14213D"/>
          </a:solidFill>
          <a:ln/>
        </p:spPr>
        <p:txBody>
          <a:bodyPr wrap="square" lIns="177162" tIns="113662" rIns="0" bIns="113662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 de oro:</a:t>
            </a:r>
            <a:r>
              <a:rPr lang="en-US" sz="13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una corrida que no se anotó no existió. Y una corrida "mala" se anota igual: el porcentaje sin colisiones solo vale si incluye todas.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PRUEBA · 3 DE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planilla y cómo se calculan los números del resumen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74242"/>
            <a:ext cx="10566400" cy="18740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025" y="2174242"/>
            <a:ext cx="0" cy="1874097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045164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2183556"/>
          <a:ext cx="10552430" cy="1860127"/>
        </p:xfrm>
        <a:graphic>
          <a:graphicData uri="http://schemas.openxmlformats.org/drawingml/2006/table">
            <a:tbl>
              <a:tblPr/>
              <a:tblGrid>
                <a:gridCol w="844194"/>
                <a:gridCol w="949719"/>
                <a:gridCol w="1160767"/>
                <a:gridCol w="1266292"/>
                <a:gridCol w="1160767"/>
                <a:gridCol w="1055243"/>
                <a:gridCol w="1160767"/>
                <a:gridCol w="1266292"/>
                <a:gridCol w="1688389"/>
              </a:tblGrid>
              <a:tr h="32935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 pack 1 /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Tiempo (s)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Evasiones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Barridos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Colisiones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Dónde chocó / notas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35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8,1 / 8,0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23,4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sí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35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8,0 / 8,0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31,0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sí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caja 2, lateral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35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7,9 / 8,0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35,2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sí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71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…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(filas de ejemplo, no datos reales)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229311"/>
            <a:ext cx="2520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857" y="4383199"/>
            <a:ext cx="227958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[X] % sin colisiones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857" y="4632114"/>
            <a:ext cx="227958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Corridas con 0 colisiones ÷ total de corridas × 100. Incluir las no completadas en el total.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95675" y="4229311"/>
            <a:ext cx="2520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9557" y="4383199"/>
            <a:ext cx="227958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[X ± Y] 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49557" y="4632114"/>
            <a:ext cx="227958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Promedio ± desviación estándar del tiempo, solo de las corridas completadas. Decir cuántas fueron.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5375" y="4229311"/>
            <a:ext cx="2520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9257" y="4383199"/>
            <a:ext cx="227958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chocó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29257" y="4632114"/>
            <a:ext cx="227958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Tabla de colisiones por obstáculo y por tipo (frontal, lateral, oblicuo). Confirma o corrige la frase del resumen.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55075" y="4229311"/>
            <a:ext cx="2520950" cy="1410123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8957" y="4383199"/>
            <a:ext cx="227958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Evasiones por corrida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08957" y="4632114"/>
            <a:ext cx="227958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Promedio. Si es mucho mayor que el número de cajas, el auto está evadiendo fantasmas: revisar sensores.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PRUEBA · 4 DE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Cuántas corridas y en qué orden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397250" cy="1976543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57" y="1960451"/>
            <a:ext cx="307752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+ 10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0657" y="2570051"/>
            <a:ext cx="307752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 menos diez corridas por versión. Con menos, un solo choque mueve el porcentaje 20 puntos y no se puede decir nada.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755775"/>
            <a:ext cx="3397250" cy="1976543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2057" y="1960451"/>
            <a:ext cx="307752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v1 · v2 · v1 · v2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02057" y="2570051"/>
            <a:ext cx="307752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Alternar versiones en bloques de 5 (solo cambia MODO_BARRIDO). Así el desgaste de las pilas y el calentamiento afectan a las dos por igual.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755775"/>
            <a:ext cx="3397250" cy="1976543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457" y="1960451"/>
            <a:ext cx="307752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5FA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sesión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83457" y="2570051"/>
            <a:ext cx="307752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Veinte corridas de medio minuto más la preparación caben en dos horas. Hacerlas el mismo día, en la misma pista, con las mismas pilas.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941874"/>
            <a:ext cx="5187950" cy="1559983"/>
          </a:xfrm>
          <a:prstGeom prst="roundRect">
            <a:avLst>
              <a:gd name="adj" fmla="val 5495"/>
            </a:avLst>
          </a:prstGeom>
          <a:solidFill>
            <a:srgbClr val="FFF6D6"/>
          </a:solidFill>
          <a:ln w="6350">
            <a:solidFill>
              <a:srgbClr val="E8C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257" y="4121150"/>
            <a:ext cx="49742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se puede afirmar y qué 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5257" y="4398008"/>
            <a:ext cx="497426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10 corridas por versión se puede decir "v2 completó 9 de 10 y v1 6 de 10". No se puede decir que la diferencia es estadísticamente significativa sin un test; es honesto presentarlo como tendencia y decir el 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8075" y="3941874"/>
            <a:ext cx="5187950" cy="1559983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7357" y="4121150"/>
            <a:ext cx="49742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la sesión de 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7357" y="4398008"/>
            <a:ext cx="497426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sesión de ajuste aparte (no se anota): KP_RUMBO, T_PIVOTE, umbrales. Cuando el auto complete 3 corridas seguidas sin tocar nada, se congela el código, se anota la versión y recién ahí empiezan las corridas que cuentan.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 PENDIENTE DEL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Costo de materiales: [$X] CLP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27200"/>
            <a:ext cx="6350000" cy="3440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59625" y="1727200"/>
            <a:ext cx="0" cy="3440854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5164879"/>
            <a:ext cx="63500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1736513"/>
          <a:ext cx="6336030" cy="3426883"/>
        </p:xfrm>
        <a:graphic>
          <a:graphicData uri="http://schemas.openxmlformats.org/drawingml/2006/table">
            <a:tbl>
              <a:tblPr/>
              <a:tblGrid>
                <a:gridCol w="3168015"/>
                <a:gridCol w="950404"/>
                <a:gridCol w="2217610"/>
              </a:tblGrid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Cant.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Precio pagado (CLP)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ESP32 DevKit + shield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Puente H L298N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Chasis, motores DC y ruedas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Servo de dirección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 servo de barrido + soporte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Sensores HC-SR04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Baterías 18650 + portapilas + cargador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Cables, resistencias, buck, interruptores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42688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[$____]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43775" y="1730375"/>
            <a:ext cx="4032250" cy="1559983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23057" y="1909651"/>
            <a:ext cx="37838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llenarla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23057" y="2186521"/>
            <a:ext cx="378389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Precio realmente pagado, con boleta o captura de la tienda. Si algo fue prestado por la universidad, igual se pone su precio de mercado y se indica con una nota.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43775" y="3423704"/>
            <a:ext cx="4032250" cy="1559983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3057" y="3602992"/>
            <a:ext cx="37838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23057" y="3879850"/>
            <a:ext cx="378389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"Bajo costo" está en el título. El jurado va a comparar con un kit comercial o un robot educativo; tengan ese número de referencia a mano.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CONTAR EN TEMUCO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9236"/>
            <a:ext cx="10883392" cy="44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Mejoras implementadas después del resumen</a:t>
            </a:r>
            <a:endParaRPr lang="en-US" sz="3020" dirty="0"/>
          </a:p>
        </p:txBody>
      </p:sp>
      <p:sp>
        <p:nvSpPr>
          <p:cNvPr id="4" name="Shape 2"/>
          <p:cNvSpPr/>
          <p:nvPr/>
        </p:nvSpPr>
        <p:spPr>
          <a:xfrm>
            <a:off x="812800" y="1686669"/>
            <a:ext cx="10566400" cy="3540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025" y="1686669"/>
            <a:ext cx="0" cy="354076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5224254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1695982"/>
          <a:ext cx="10552430" cy="3526790"/>
        </p:xfrm>
        <a:graphic>
          <a:graphicData uri="http://schemas.openxmlformats.org/drawingml/2006/table">
            <a:tbl>
              <a:tblPr/>
              <a:tblGrid>
                <a:gridCol w="2532583"/>
                <a:gridCol w="4009923"/>
                <a:gridCol w="4009923"/>
              </a:tblGrid>
              <a:tr h="352637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Mejora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Problema que resolvió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Cómo se demuestra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4303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Tracción diferencial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servo gira solo ±17°; el auto no alcanzaba a esquivar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Rueda interior frenada o invertida en cada giro; radio de giro visiblemente menor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303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 proporcional de rumbo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Quedaba pegado a la pared cuando el frente estaba libre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aleja del lado cercano de forma continua; sin zigzag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4303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Evasión en lazo cerrado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Tiempos fijos: a veces poco, a veces de más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Cada paso termina cuando el sensor ve libre; pivote si no sale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303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Barrido + mapa local (v2)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Tres puntos no distinguen huecos anchos de angostos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Mapa en el celular con el hueco elegido; comparación v1/v2 con datos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4303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Telemetría WiFi y registro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Imposible diagnosticar en el piso sin cable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Sensores en vivo, zona, eventos y motivo de reinicio desde el celular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637"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Calibración documentada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Servos sin centro, topes forzados, reinicios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8"/>
                        </a:lnSpc>
                        <a:buNone/>
                      </a:pPr>
                      <a:r>
                        <a:rPr lang="en-US" sz="119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Procedimiento repetible y valores en el código con fecha</a:t>
                      </a:r>
                      <a:endParaRPr lang="en-US" sz="119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2958" marR="52958" marT="52958" marB="52958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405227"/>
            <a:ext cx="10883392" cy="462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5"/>
              </a:lnSpc>
              <a:buNone/>
            </a:pPr>
            <a:r>
              <a:rPr lang="en-US" sz="1239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Narrativa sugerida: "el resumen describe la primera versión; al probarla encontramos tres límites (giro, pared, maniobra ciega) y los resolvimos así". Un problema encontrado y resuelto vale más ante un jurado que un sistema que "siempre funcionó".</a:t>
            </a:r>
            <a:endParaRPr lang="en-US" sz="1239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CONTAR EN TEMUCO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1613"/>
            <a:ext cx="10883392" cy="916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9"/>
              </a:lnSpc>
              <a:buNone/>
            </a:pPr>
            <a:r>
              <a:rPr lang="en-US" sz="319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Limitaciones conocidas, dichas antes de que las pregunten</a:t>
            </a:r>
            <a:endParaRPr lang="en-US" sz="3190" dirty="0"/>
          </a:p>
        </p:txBody>
      </p:sp>
      <p:sp>
        <p:nvSpPr>
          <p:cNvPr id="4" name="Shape 2"/>
          <p:cNvSpPr/>
          <p:nvPr/>
        </p:nvSpPr>
        <p:spPr>
          <a:xfrm>
            <a:off x="815975" y="2198898"/>
            <a:ext cx="3414183" cy="1740641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57" y="2378187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Radio de giro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257" y="2655044"/>
            <a:ext cx="3147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±17° de servo. Compensado con tracción diferencial y pivote, pero un rincón menor a 60 cm sigue siendo una trampa. Mejora futura: varillaje con más recorrido.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8908" y="2198898"/>
            <a:ext cx="3414183" cy="1740641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190" y="2378187"/>
            <a:ext cx="3147289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Obstáculos oblicuos o blandos</a:t>
            </a:r>
            <a:endParaRPr lang="en-US" sz="1396" dirty="0"/>
          </a:p>
        </p:txBody>
      </p:sp>
      <p:sp>
        <p:nvSpPr>
          <p:cNvPr id="9" name="Text 7"/>
          <p:cNvSpPr/>
          <p:nvPr/>
        </p:nvSpPr>
        <p:spPr>
          <a:xfrm>
            <a:off x="4568190" y="2654089"/>
            <a:ext cx="3147289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9"/>
              </a:lnSpc>
              <a:buNone/>
            </a:pPr>
            <a:r>
              <a:rPr lang="en-US" sz="1242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ultrasonido rebota lejos de superficies inclinadas y se pierde en tela. Es la causa esperada de las colisiones. Mejora futura: sensor de tiempo de vuelo infrarrojo o cámara.</a:t>
            </a:r>
            <a:endParaRPr lang="en-US" sz="1242" dirty="0"/>
          </a:p>
        </p:txBody>
      </p:sp>
      <p:sp>
        <p:nvSpPr>
          <p:cNvPr id="10" name="Shape 8"/>
          <p:cNvSpPr/>
          <p:nvPr/>
        </p:nvSpPr>
        <p:spPr>
          <a:xfrm>
            <a:off x="7961842" y="2198898"/>
            <a:ext cx="3414183" cy="1740641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123" y="2378187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memoria del entorno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41123" y="2655044"/>
            <a:ext cx="3147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solo con lo que ve ahora. No sabe dónde estuvo ni hacia dónde va la meta. Por eso el resumen propone odometría y mapeo como trabajo futuro.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975" y="4098292"/>
            <a:ext cx="3414183" cy="1740535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257" y="4277568"/>
            <a:ext cx="3147289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Alimentación</a:t>
            </a:r>
            <a:endParaRPr lang="en-US" sz="1396" dirty="0"/>
          </a:p>
        </p:txBody>
      </p:sp>
      <p:sp>
        <p:nvSpPr>
          <p:cNvPr id="15" name="Text 13"/>
          <p:cNvSpPr/>
          <p:nvPr/>
        </p:nvSpPr>
        <p:spPr>
          <a:xfrm>
            <a:off x="995257" y="4553483"/>
            <a:ext cx="3147289" cy="113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9"/>
              </a:lnSpc>
              <a:buNone/>
            </a:pPr>
            <a:r>
              <a:rPr lang="en-US" sz="1242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servo de dirección sobre el regulador del L298N. Hoy basta con los topes por software y pilas sobre 7,0 V; el registro de reinicios vigila que siga bastando. Mejora futura: fuente dedicada para servos.</a:t>
            </a:r>
            <a:endParaRPr lang="en-US" sz="1242" dirty="0"/>
          </a:p>
        </p:txBody>
      </p:sp>
      <p:sp>
        <p:nvSpPr>
          <p:cNvPr id="16" name="Shape 14"/>
          <p:cNvSpPr/>
          <p:nvPr/>
        </p:nvSpPr>
        <p:spPr>
          <a:xfrm>
            <a:off x="4388908" y="4098292"/>
            <a:ext cx="3414183" cy="1740535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8190" y="4277568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 del bucle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68190" y="4554426"/>
            <a:ext cx="3147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a 8 lecturas por segundo limitan la velocidad segura a unos 30 cm/s. Un AGV real usa LiDAR a 10 Hz o más; la escala y el costo explican la diferencia.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61842" y="4098292"/>
            <a:ext cx="3414183" cy="1740535"/>
          </a:xfrm>
          <a:prstGeom prst="roundRect">
            <a:avLst>
              <a:gd name="adj" fmla="val 492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1123" y="4277568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parada de emergencia física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1123" y="4554426"/>
            <a:ext cx="3147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pausa es por WiFi. En un AGV industrial es obligatoria una seta de emergencia cableada. Un interruptor en el pack de motores es la versión a escala.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5"/>
              </a:lnSpc>
              <a:buNone/>
            </a:pPr>
            <a:r>
              <a:rPr lang="en-US" sz="1054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CONTAR EN TEMUCO</a:t>
            </a:r>
            <a:endParaRPr lang="en-US" sz="1054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9975"/>
            <a:ext cx="10883392" cy="404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4"/>
              </a:lnSpc>
              <a:buNone/>
            </a:pPr>
            <a:r>
              <a:rPr lang="en-US" sz="274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Preguntas probables del jurado</a:t>
            </a:r>
            <a:endParaRPr lang="en-US" sz="2740" dirty="0"/>
          </a:p>
        </p:txBody>
      </p:sp>
      <p:sp>
        <p:nvSpPr>
          <p:cNvPr id="4" name="Shape 2"/>
          <p:cNvSpPr/>
          <p:nvPr/>
        </p:nvSpPr>
        <p:spPr>
          <a:xfrm>
            <a:off x="812800" y="1627076"/>
            <a:ext cx="10566400" cy="4214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025" y="1627076"/>
            <a:ext cx="0" cy="4214918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5838819"/>
            <a:ext cx="1056640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13" y="1636389"/>
          <a:ext cx="10552430" cy="4200948"/>
        </p:xfrm>
        <a:graphic>
          <a:graphicData uri="http://schemas.openxmlformats.org/drawingml/2006/table">
            <a:tbl>
              <a:tblPr/>
              <a:tblGrid>
                <a:gridCol w="4009923"/>
                <a:gridCol w="6542507"/>
              </a:tblGrid>
              <a:tr h="296863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Pregunta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Respuesta corta (y quién la responde)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88103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¿Por qué ultrasonido y no LiDAR o cámara?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Costo y simplicidad para primer año: tres sensores cuestan menos que un cable de LiDAR. Mostramos sus límites y los medimos.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98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¿Qué pasa si falla un sensor?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"Sin eco" se trata como incertidumbre: baja la velocidad, nunca acelera. El registro lo muestra.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87997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¿Cómo elige hacia dónde evadir?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v1: el lateral más lejano. v2: el hueco más ancho de siete lecturas más los laterales. La maniobra es la misma.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98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¿Por qué retrocede con las ruedas hacia el otro lado?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al estacionar: en reversa la trompa gira al contrario de las ruedas. Demostrarlo con el auto en la mano.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87997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¿Es un controlador PID?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 proporcional. No hay integral ni derivativo porque el sensor es ruidoso y lento; con P e histéresis basta y se explica en una pizarra.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98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¿Cuántas corridas y qué variabilidad?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 por versión, promedio y desviación, y la tabla de dónde chocó. Decir qué no se puede afirmar con ese n.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87998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¿Qué relación tiene con Industria 4.0?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 AGV a escala: percepción, decisión, actuación y telemetría inalámbrica son las mismas capas de uno real.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97"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¿Qué harían con más tiempo?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9"/>
                        </a:lnSpc>
                        <a:buNone/>
                      </a:pPr>
                      <a:r>
                        <a:rPr lang="en-US" sz="1078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Varillaje con más giro, odometría con encoders, mapeo acumulado, sensor ToF para oblicuos, fuente dedicada para servos. [nombre]</a:t>
                      </a:r>
                      <a:endParaRPr lang="en-US" sz="10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7923" marR="47923" marT="47923" marB="47923" anchor="t">
                    <a:lnL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CONTAR EN TEMUCO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Lista para el día de la demostración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83" cy="3267498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57" y="1935051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 semana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87332" y="2224621"/>
            <a:ext cx="3047594" cy="240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de carga con el registro abierto: ningún "reset 9"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Interruptor en cada pack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Cables del sensor móvil asegurados con silicona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Sesión de ajuste y luego sesión de datos (20 corridas)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Tabla de costos completa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congelado y subido al repositorio con la versión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8908" y="1755775"/>
            <a:ext cx="3414183" cy="3267498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190" y="1935051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la maleta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0265" y="2224621"/>
            <a:ext cx="3047594" cy="264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pilas 18650 cargadas (dos juegos) y el cargador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 HC-SR04, servo SG90 y L298N de repuesto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Cables Dupont, cinta, silicona caliente, destornilladores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Multímetro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Notebook con Arduino IDE y el código final cargado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cajas plegables para la pista y cinta de piso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61842" y="1755775"/>
            <a:ext cx="3414183" cy="3267498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1123" y="1935051"/>
            <a:ext cx="31472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33198" y="2224621"/>
            <a:ext cx="3047594" cy="264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packs antes de cada demostración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conectado a la red del auto antes de que llegue el jurado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 de respaldo de una corrida completa, por si el piso o el espacio no sirven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Planilla impresa con los resultados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Pista mínima armada: 2 cajas, 2 m</a:t>
            </a:r>
            <a:endParaRPr lang="en-US" sz="1250" dirty="0"/>
          </a:p>
          <a:p>
            <a:pPr algn="l" marL="161925" indent="-161925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estudiante en el celular, uno explica, uno cuida el auto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2031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Rover UA · Temuco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CERRAR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58"/>
            <a:ext cx="981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7F8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el jurado tiene que irse sabiendo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2499358"/>
            <a:ext cx="3403600" cy="1856740"/>
          </a:xfrm>
          <a:prstGeom prst="roundRect">
            <a:avLst>
              <a:gd name="adj" fmla="val 4788"/>
            </a:avLst>
          </a:prstGeom>
          <a:solidFill>
            <a:srgbClr val="1E2F55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702558"/>
            <a:ext cx="308711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B7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3157215"/>
            <a:ext cx="308711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Estudiantes de primer año integraron percepción, decisión y actuación en un sistema que se mueve solo.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4200" y="2499358"/>
            <a:ext cx="3403600" cy="1856740"/>
          </a:xfrm>
          <a:prstGeom prst="roundRect">
            <a:avLst>
              <a:gd name="adj" fmla="val 4788"/>
            </a:avLst>
          </a:prstGeom>
          <a:solidFill>
            <a:srgbClr val="1E2F55"/>
          </a:solidFill>
          <a:ln/>
        </p:spPr>
      </p:sp>
      <p:sp>
        <p:nvSpPr>
          <p:cNvPr id="8" name="Text 6"/>
          <p:cNvSpPr/>
          <p:nvPr/>
        </p:nvSpPr>
        <p:spPr>
          <a:xfrm>
            <a:off x="4597400" y="2702558"/>
            <a:ext cx="308711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B7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97400" y="3157215"/>
            <a:ext cx="308711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midieron: n corridas, porcentaje sin colisiones, tiempo con su variabilidad, dónde falla y por qué.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5600" y="2499358"/>
            <a:ext cx="3403600" cy="1856740"/>
          </a:xfrm>
          <a:prstGeom prst="roundRect">
            <a:avLst>
              <a:gd name="adj" fmla="val 4788"/>
            </a:avLst>
          </a:prstGeom>
          <a:solidFill>
            <a:srgbClr val="1E2F55"/>
          </a:solidFill>
          <a:ln/>
        </p:spPr>
      </p:sp>
      <p:sp>
        <p:nvSpPr>
          <p:cNvPr id="11" name="Text 9"/>
          <p:cNvSpPr/>
          <p:nvPr/>
        </p:nvSpPr>
        <p:spPr>
          <a:xfrm>
            <a:off x="8178800" y="2702558"/>
            <a:ext cx="308711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B7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78800" y="3157215"/>
            <a:ext cx="308711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Encontraron límites reales y los resolvieron con ingeniería: tracción diferencial, control proporcional, lazo cerrado, mapa local.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547358"/>
            <a:ext cx="71945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 paso del equipo: sesión de ajuste, sesión de datos, tabla de costos, repositorio y ensayo de la presentación con cronómetro.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97800" y="5547358"/>
            <a:ext cx="368884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Universidad Autónoma de Chile · Facultad de Ingeniería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ver UA · Temuco 2026">
  <a:themeElements>
    <a:clrScheme name="Rover UA · Temuco 2026">
      <a:dk1>
        <a:srgbClr val="14213D"/>
      </a:dk1>
      <a:lt1>
        <a:srgbClr val="F7F8F5"/>
      </a:lt1>
      <a:dk2>
        <a:srgbClr val="4D576B"/>
      </a:dk2>
      <a:lt2>
        <a:srgbClr val="E0E3E3"/>
      </a:lt2>
      <a:accent1>
        <a:srgbClr val="1F5FAD"/>
      </a:accent1>
      <a:accent2>
        <a:srgbClr val="F2B705"/>
      </a:accent2>
      <a:accent3>
        <a:srgbClr val="8A5A00"/>
      </a:accent3>
      <a:accent4>
        <a:srgbClr val="FFF6D6"/>
      </a:accent4>
      <a:accent5>
        <a:srgbClr val="BFD0E8"/>
      </a:accent5>
      <a:accent6>
        <a:srgbClr val="FFF1C9"/>
      </a:accent6>
      <a:hlink>
        <a:srgbClr val="0563C1"/>
      </a:hlink>
      <a:folHlink>
        <a:srgbClr val="954F72"/>
      </a:folHlink>
    </a:clrScheme>
    <a:fontScheme name="Rover UA · Temuco 2026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Rover UA · Temuco 2026</dc:title>
  <dc:subject/>
  <dc:creator/>
  <cp:lastModifiedBy/>
  <cp:revision>1</cp:revision>
  <dcterms:created xsi:type="dcterms:W3CDTF">2026-10-13T00:41:35Z</dcterms:created>
  <dcterms:modified xsi:type="dcterms:W3CDTF">2026-10-13T00:41:35Z</dcterms:modified>
</cp:coreProperties>
</file>